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4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99" r:id="rId5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9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2" r:id="rId38"/>
    <p:sldId id="291" r:id="rId39"/>
    <p:sldId id="293" r:id="rId40"/>
    <p:sldId id="294" r:id="rId41"/>
    <p:sldId id="295" r:id="rId42"/>
    <p:sldId id="297" r:id="rId43"/>
  </p:sldIdLst>
  <p:sldSz cx="12192000" cy="6858000"/>
  <p:notesSz cx="6858000" cy="12192000"/>
  <p:embeddedFontLst>
    <p:embeddedFont>
      <p:font typeface="Geist Mono" panose="02010009000000000000" pitchFamily="49" charset="77"/>
      <p:regular r:id="rId45"/>
      <p:bold r:id="rId46"/>
      <p:italic r:id="rId47"/>
      <p:boldItalic r:id="rId48"/>
    </p:embeddedFont>
    <p:embeddedFont>
      <p:font typeface="Inter" panose="02000503000000020004" pitchFamily="2" charset="0"/>
      <p:regular r:id="rId49"/>
      <p:bold r:id="rId50"/>
      <p:italic r:id="rId51"/>
      <p:boldItalic r:id="rId5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37"/>
    <p:restoredTop sz="94610"/>
  </p:normalViewPr>
  <p:slideViewPr>
    <p:cSldViewPr snapToGrid="0" snapToObjects="1">
      <p:cViewPr varScale="1">
        <p:scale>
          <a:sx n="239" d="100"/>
          <a:sy n="239" d="100"/>
        </p:scale>
        <p:origin x="200" y="1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4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5.fntdata"/>  <Relationship Id="rId57" Type="http://schemas.openxmlformats.org/officeDocument/2006/relationships/slide" Target="slides/slide43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9530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Hold while people join. 90 minutes: 75 of content, 15 of Q&amp;A. Five sections: basics, 3 clouds, 2 clouds, 1 machine, backups, then moves and things to know.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three takeaways; everything else is in service of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room which applications truly need immediate consistency. Most need less than they think; the ones that do, really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PubAck means 'stored on a quorum'. Consumer acks cost a vote as well, which is why consumer-heavy workloads care about replica latency.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Verified on the demo cluster: without a meta leader, publish/consume/KV/direct get work; ls, create, edit, purge, delete and the non-direct MSG.GET fail with 10008.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Rescue (2.15): $JS.API.META.RESCUE lowers quorum_needed for 5 minutes. Set it to the number of live servers, never lower. Removed peers are ignored for 5 minutes, then rejoin on their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Roughly 20 minutes. Stretch cluster, super-cluster with a stretch cluster, mirrors, then sourcing and the virtual stream, with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Zero RPO, RTO in seconds. The price is paid on every write. Without unique_tag, R3 can put two replicas in one site and that site's loss kills the stream.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 latency = leader to the farthest replica in the quorum and back, on every message. Reads stay local. Continental distances make the latency cost visible: 30 to 65 ms per write. Fine for many workloads, not for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Regional clusters for local streams, one stretch cluster for the streams that need a single global order. From the Synadia blog on multi-cluster consistency models. The stretch cluster is also the 'ordering stream' in front of regional write streams if you need global order with the virtual stream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mirror keeps the origin's sequence numbers. Promotion is one-way: a promoted stream cannot become a mirror again without being re-created.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Subject transforms on the sources strip the region token: foo.west.test becomes foo.test in every read stream. Demo folder: sourcing-replication.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A8B6F-207A-FCBE-AF9F-645651DD1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D1AD43-3F10-E15A-B64B-58F9D706C1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37C4AF-0F7D-0DF4-E856-B65C8A637D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Subject transforms on the sources strip the region token: foo.west.test becomes foo.test in every read stream. Demo folder: sourcing-replication.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1D9A44-6675-8328-2630-88263A8E00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3236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Mappings live in the account config (or the account JWT in operator mode); each entry has one destination per region with cluster: &lt;region&gt;.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Observed in the demo: after a partition both read streams show the same count with different contents, then converge within a minute of healing.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what the demo proves before running it: local latency on both sides, convergence after failures, and the limits (order, sequence numbers, consumers).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20 minutes: the arbitrator, the leaf-node alternative, primary/backup with mirrors, active/active with sourcing, then the matrix.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folder: arbitrator. gwproxy carries the gateway links so partition-east.sh can cut them without root.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meta leader was in east it keeps leading 10 to 25 seconds before stepping down; harmless, it cannot commit. Rejoining peers carry a higher Raft term, hence the re-election after healing.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of 7 peers remain: the control plane survives on west. East's streams come back when east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sides keep their data plane; only the majority side keeps the control plane.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demos end with a prompt to clean up or keep playing.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topology of the mirror-dr demo: west is a leaf of east, domains 'west' and 'east'.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Verified: a revived east stream with its old data starts taking writes again within seconds of electing a leader, and the two copies diverge.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nats stream edit ORDERS --no-mirror --subjects 'orders.&gt;' : one command, plus client reconnection.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Mirror the other way, catch up, then swap roles during a writer pause.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limits as before: no global order, local sequence numbers, consumers per cloud, KV last-writer-wins.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slide people photograph. Walk it column by column. Arbitrator and backups are additions to the other four, not alternatives.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 14 shows the machine-crash case next to sync: always.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Server change: one fsync per RAFT append entry plus one per dirty block before a snapshot, instead of one per entry plus one per message.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Verified: restore brings consumer C back at its ack floor. Restore stream takes --cluster, --tag, --replicas to re-place.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restore --config cannot rename (it checks the backup's own name first); edit name and subjects in the copy's backup.json instead, then validate.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
<Relationships xmlns="http://schemas.openxmlformats.org/package/2006/relationships"><Relationship Id="rId3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10B98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SYNADIA WORKSHOP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874520"/>
            <a:ext cx="10881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Multi-Cloud and Disasters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8986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Disaster recovery with NATS JetStream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4709160"/>
            <a:ext cx="2926080" cy="274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49834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Jean-Noël Moyne · Synadia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October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04785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THE DEAL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you'll leave with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08792" cy="1097280"/>
          </a:xfrm>
          <a:prstGeom prst="roundRect">
            <a:avLst>
              <a:gd name="adj" fmla="val 10000"/>
            </a:avLst>
          </a:prstGeom>
          <a:solidFill>
            <a:srgbClr val="F4F4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08483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04785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20116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decision matrix for two and three clouds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239572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7171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Stretch, mirrors, sourcing, arbitrator, leaf nodes, backups: RPO, RTO, consistency, latency, what survives.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127248"/>
            <a:ext cx="10908792" cy="1097280"/>
          </a:xfrm>
          <a:prstGeom prst="roundRect">
            <a:avLst>
              <a:gd name="adj" fmla="val 10000"/>
            </a:avLst>
          </a:prstGeom>
          <a:solidFill>
            <a:srgbClr val="F4F4F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33832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04785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783080" y="331012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demo environments and runbooks that run on a laptop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783080" y="3694176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7171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arbitrator, sourcing-replication, mirror-dr, backup-restore: scripts, kill switches, a network-partition proxy.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425696"/>
            <a:ext cx="10908792" cy="1097280"/>
          </a:xfrm>
          <a:prstGeom prst="roundRect">
            <a:avLst>
              <a:gd name="adj" fmla="val 10000"/>
            </a:avLst>
          </a:prstGeom>
          <a:solidFill>
            <a:srgbClr val="F4F4F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68172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04785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783080" y="4608576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gotchas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783080" y="4992624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7171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Ghost peers in the meta quorum, mirror lag that lies during a partition, what </a:t>
            </a:r>
            <a:r>
              <a:rPr lang="en-US" sz="1400" dirty="0" err="1">
                <a:solidFill>
                  <a:srgbClr val="7171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sync_interval</a:t>
            </a:r>
            <a:r>
              <a:rPr lang="en-US" sz="1400" dirty="0">
                <a:solidFill>
                  <a:srgbClr val="7171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protects, promotion of a mirror is one-way.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8016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0" dirty="0">
                <a:solidFill>
                  <a:srgbClr val="27272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00</a:t>
            </a:r>
            <a:endParaRPr lang="en-US" sz="1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00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Some basics about disasters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640080" y="4160520"/>
            <a:ext cx="2194560" cy="27432"/>
          </a:xfrm>
          <a:prstGeom prst="rect">
            <a:avLst/>
          </a:prstGeom>
          <a:solidFill>
            <a:srgbClr val="10B981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04785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BASICS · VOCABULARY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words to agree 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43584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7171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Cloud, site, DC, AZ: interchangeable here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453384" cy="4185138"/>
          </a:xfrm>
          <a:prstGeom prst="roundRect">
            <a:avLst>
              <a:gd name="adj" fmla="val 3177"/>
            </a:avLst>
          </a:prstGeom>
          <a:solidFill>
            <a:srgbClr val="F4F4F5"/>
          </a:solidFill>
          <a:ln/>
        </p:spPr>
      </p:sp>
      <p:sp>
        <p:nvSpPr>
          <p:cNvPr id="6" name="Shape 4"/>
          <p:cNvSpPr/>
          <p:nvPr/>
        </p:nvSpPr>
        <p:spPr>
          <a:xfrm>
            <a:off x="1909572" y="1600200"/>
            <a:ext cx="914400" cy="9144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2788920"/>
            <a:ext cx="2813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Active/active vs active/passive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429000"/>
            <a:ext cx="281330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distinction happens at two levels.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NATS service: does each site serve traffic?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client applications: are they deployed on all sites? Do they write on all sites, at the same time, on the same key?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67784" y="1920240"/>
            <a:ext cx="3453384" cy="3657600"/>
          </a:xfrm>
          <a:prstGeom prst="roundRect">
            <a:avLst>
              <a:gd name="adj" fmla="val 3177"/>
            </a:avLst>
          </a:prstGeom>
          <a:solidFill>
            <a:srgbClr val="F4F4F5"/>
          </a:solidFill>
          <a:ln/>
        </p:spPr>
      </p:sp>
      <p:sp>
        <p:nvSpPr>
          <p:cNvPr id="10" name="Shape 8"/>
          <p:cNvSpPr/>
          <p:nvPr/>
        </p:nvSpPr>
        <p:spPr>
          <a:xfrm>
            <a:off x="5637276" y="1600200"/>
            <a:ext cx="914400" cy="9144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87824" y="2788920"/>
            <a:ext cx="2813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consistency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687824" y="3429000"/>
            <a:ext cx="281330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single order of the messages in a stream. Atomic batching and compare-and-set are available.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what RAFT replication gives you, at the price of a quorum round trip.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95488" y="1920240"/>
            <a:ext cx="3453384" cy="3657600"/>
          </a:xfrm>
          <a:prstGeom prst="roundRect">
            <a:avLst>
              <a:gd name="adj" fmla="val 3177"/>
            </a:avLst>
          </a:prstGeom>
          <a:solidFill>
            <a:srgbClr val="F4F4F5"/>
          </a:solidFill>
          <a:ln/>
        </p:spPr>
      </p:sp>
      <p:sp>
        <p:nvSpPr>
          <p:cNvPr id="14" name="Shape 12"/>
          <p:cNvSpPr/>
          <p:nvPr/>
        </p:nvSpPr>
        <p:spPr>
          <a:xfrm>
            <a:off x="9364980" y="1600200"/>
            <a:ext cx="914400" cy="9144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15528" y="2788920"/>
            <a:ext cx="2813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consistency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415528" y="3429000"/>
            <a:ext cx="281330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Coherency, really: e.g. read your own writes. Technically it means no caching of any kind; practically it is a latency.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application needs what? What are your latency requirements?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04785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BASICS · RAFT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RAFT: active/active with immediate consistency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5029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replicated Stream and Consumer has its own RAFT group. One peer is elected leader and handles publications and requests.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message published to a Stream is a RAFT vote between the leader and the replicas (with some optimistic batching).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state change of a Consumer, such as a client ack, is a vote too.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least half the nodes plus one must vote: 2 of 3, 3 of 5.</a:t>
            </a:r>
            <a:endParaRPr lang="en-US" sz="1500" dirty="0"/>
          </a:p>
        </p:txBody>
      </p:sp>
      <p:pic>
        <p:nvPicPr>
          <p:cNvPr id="5" name="Image 0" descr="/Users/jnmoyne/Documents/Synadia/code/workshop-DR/diagrams/01-ra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152" y="1828800"/>
            <a:ext cx="5760720" cy="32404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04785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BASICS · THE META LAYER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meta leader for the whole (super-)cluster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94960" cy="3566160"/>
          </a:xfrm>
          <a:prstGeom prst="roundRect">
            <a:avLst>
              <a:gd name="adj" fmla="val 3077"/>
            </a:avLst>
          </a:prstGeom>
          <a:solidFill>
            <a:srgbClr val="F4F4F5"/>
          </a:solidFill>
          <a:ln/>
        </p:spPr>
      </p:sp>
      <p:sp>
        <p:nvSpPr>
          <p:cNvPr id="5" name="Shape 3"/>
          <p:cNvSpPr/>
          <p:nvPr/>
        </p:nvSpPr>
        <p:spPr>
          <a:xfrm>
            <a:off x="6263640" y="1783080"/>
            <a:ext cx="5285232" cy="3566160"/>
          </a:xfrm>
          <a:prstGeom prst="roundRect">
            <a:avLst>
              <a:gd name="adj" fmla="val 3077"/>
            </a:avLst>
          </a:prstGeom>
          <a:solidFill>
            <a:srgbClr val="18181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0574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71717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STOPS WITHOUT A META LEADER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42316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Stream, KV and Consumer lifecycle (CRUD)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 purging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 moving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Adding new peers to the cluster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nats stream ls and account-level JetStream info (individual stream infos still work)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2057400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10B98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KEEPS WORKING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423160"/>
            <a:ext cx="46451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NATS, obviously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Publishing to existing streams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Consuming from existing consumers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KV reads and writes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gets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04785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BASICS · GOTCHA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Nodes join automatically, leave administratively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94960" cy="3383280"/>
          </a:xfrm>
          <a:prstGeom prst="roundRect">
            <a:avLst>
              <a:gd name="adj" fmla="val 3243"/>
            </a:avLst>
          </a:prstGeom>
          <a:solidFill>
            <a:srgbClr val="F4F4F5"/>
          </a:solidFill>
          <a:ln/>
        </p:spPr>
      </p:sp>
      <p:sp>
        <p:nvSpPr>
          <p:cNvPr id="5" name="Shape 3"/>
          <p:cNvSpPr/>
          <p:nvPr/>
        </p:nvSpPr>
        <p:spPr>
          <a:xfrm>
            <a:off x="6263640" y="1783080"/>
            <a:ext cx="5285232" cy="3383280"/>
          </a:xfrm>
          <a:prstGeom prst="roundRect">
            <a:avLst>
              <a:gd name="adj" fmla="val 3243"/>
            </a:avLst>
          </a:prstGeom>
          <a:solidFill>
            <a:srgbClr val="18181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0574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71717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WHAT YOU EXPECT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42316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server you stopped is no longer part of the cluster.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a 4th node once to try something, stop it, forget about it.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4114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4785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3 running servers = a 3-node cluster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45262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171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Feels obvious. It is wrong.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057400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10B98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WHAT ACTUALLY HAPPENS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423160"/>
            <a:ext cx="46451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 leader election counts every peer that has ever joined, running or not. Your 3-node cluster now needs 3 of 4 up.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 dead peers explicitly.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4114800"/>
            <a:ext cx="4645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0B98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nats server cluster peer-remove &lt;name&gt;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4526280"/>
            <a:ext cx="4645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2.15: nats server cluster rescue temporarily lowers the quorum so dead peers can be removed. Only if you understand it; it can recover a two-site meta layer after a split.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8016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0" dirty="0">
                <a:solidFill>
                  <a:srgbClr val="27272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01</a:t>
            </a:r>
            <a:endParaRPr lang="en-US" sz="1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00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(or more) clouds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640080" y="4160520"/>
            <a:ext cx="2194560" cy="27432"/>
          </a:xfrm>
          <a:prstGeom prst="rect">
            <a:avLst/>
          </a:prstGeom>
          <a:solidFill>
            <a:srgbClr val="10B981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04785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3 CLOUDS · STRETCH CLUSTER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Stretch cluster: one cluster across three clouds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5029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Automatically active-active and immediately consistent. It simply works as long as 2 of the 3 sites are up.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than 3 nodes? Use tags for placement: jetstream { unique_tag: "site:" } plus server_tags: ["site:aws"], so each replica lands in a different site.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impact is on operation latency: every write waits for the cross-cloud round trip.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Example: Form3, UK payments, driven by regulation. One node in AWS, one in GCP, one on prem.</a:t>
            </a:r>
            <a:endParaRPr lang="en-US" sz="1500" dirty="0"/>
          </a:p>
        </p:txBody>
      </p:sp>
      <p:pic>
        <p:nvPicPr>
          <p:cNvPr id="5" name="Image 0" descr="/Users/jnmoyne/Documents/Synadia/code/workshop-DR/diagrams/02-stretch-cluster-3-clou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152" y="1828800"/>
            <a:ext cx="5760720" cy="32404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04785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3 CLOUDS · STRETCH CLUSTER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same thing across the USA</a:t>
            </a:r>
            <a:endParaRPr lang="en-US" sz="3400" dirty="0"/>
          </a:p>
        </p:txBody>
      </p:sp>
      <p:pic>
        <p:nvPicPr>
          <p:cNvPr id="4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30476" y="1417320"/>
            <a:ext cx="8128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04785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3 CLOUDS · SUPER-CLUSTER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super-cluster with a stretch cluster</a:t>
            </a:r>
            <a:endParaRPr lang="en-US" sz="3400" dirty="0"/>
          </a:p>
        </p:txBody>
      </p:sp>
      <p:pic>
        <p:nvPicPr>
          <p:cNvPr id="4" name="Image 0" descr="/Users/jnmoyne/Documents/Synadia/code/workshop-DR/diagrams/04-supercluster-with-stre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0476" y="1417320"/>
            <a:ext cx="8128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04785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3 CLOUDS · MIRRORS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Mirrors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5029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Built-in mirroring: define a stream in one cluster that is a mirror of a stream in another cluster.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Mirrors can serve direct get requests for their cluster: set mirror_direct: true in the stream's config.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Mirrors can be promoted to regular streams, starting with NATS 2.12.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Reminder: deletes and purges are not mirrored (nor sourced).</a:t>
            </a:r>
            <a:endParaRPr lang="en-US" sz="1500" dirty="0"/>
          </a:p>
        </p:txBody>
      </p:sp>
      <p:pic>
        <p:nvPicPr>
          <p:cNvPr id="5" name="Image 0" descr="/Users/jnmoyne/Documents/Synadia/code/workshop-DR/diagrams/09-mirror-primary-ba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152" y="1828800"/>
            <a:ext cx="5760720" cy="32404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04785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3 CLOUDS · SOURCING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Eventual consistency with sourcing: the virtual stream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5029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'Replicate' through built-in stream sourcing.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cluster has a write stream that takes the local clients' writes.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cluster has a read stream that local clients consume from, and that sources from every write stream.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both sides are running, latency is not much more than the network latency.</a:t>
            </a:r>
            <a:endParaRPr lang="en-US" sz="1500" dirty="0"/>
          </a:p>
        </p:txBody>
      </p:sp>
      <p:pic>
        <p:nvPicPr>
          <p:cNvPr id="5" name="Image 0" descr="/Users/jnmoyne/Documents/Synadia/code/workshop-DR/diagrams/05-virtual-str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152" y="1828800"/>
            <a:ext cx="5760720" cy="32404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1D5A7-B71D-D29D-4E85-36F3F1C6D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1A8B31E-4A35-AC03-680E-DC1C3D54A984}"/>
              </a:ext>
            </a:extLst>
          </p:cNvPr>
          <p:cNvSpPr txBox="1"/>
          <p:nvPr/>
        </p:nvSpPr>
        <p:spPr>
          <a:xfrm>
            <a:off x="640080" y="2743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04785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3 CLOUDS · SOURCING</a:t>
            </a:r>
            <a:endParaRPr lang="en-US" sz="1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41498A9-E66C-18EB-90AC-274143358E2C}"/>
              </a:ext>
            </a:extLst>
          </p:cNvPr>
          <p:cNvSpPr txBox="1"/>
          <p:nvPr/>
        </p:nvSpPr>
        <p:spPr>
          <a:xfrm>
            <a:off x="640080" y="56692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Stretch cluster plus virtual stream</a:t>
            </a:r>
            <a:endParaRPr lang="en-US" sz="3400" dirty="0"/>
          </a:p>
        </p:txBody>
      </p:sp>
      <p:pic>
        <p:nvPicPr>
          <p:cNvPr id="5" name="Image 0">
            <a:extLst>
              <a:ext uri="{FF2B5EF4-FFF2-40B4-BE49-F238E27FC236}">
                <a16:creationId xmlns:a16="http://schemas.microsoft.com/office/drawing/2014/main" id="{3FD6F923-2E53-D994-AA02-DE9DA0AFF0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32206" y="1515140"/>
            <a:ext cx="9591737" cy="5315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1019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04785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3 CLOUDS · SOURCING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Transparent to the applications: subject mappings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94960" cy="3566160"/>
          </a:xfrm>
          <a:prstGeom prst="roundRect">
            <a:avLst>
              <a:gd name="adj" fmla="val 3077"/>
            </a:avLst>
          </a:prstGeom>
          <a:solidFill>
            <a:srgbClr val="F4F4F5"/>
          </a:solidFill>
          <a:ln/>
        </p:spPr>
      </p:sp>
      <p:sp>
        <p:nvSpPr>
          <p:cNvPr id="5" name="Shape 3"/>
          <p:cNvSpPr/>
          <p:nvPr/>
        </p:nvSpPr>
        <p:spPr>
          <a:xfrm>
            <a:off x="6263640" y="1783080"/>
            <a:ext cx="5285232" cy="3566160"/>
          </a:xfrm>
          <a:prstGeom prst="roundRect">
            <a:avLst>
              <a:gd name="adj" fmla="val 3077"/>
            </a:avLst>
          </a:prstGeom>
          <a:solidFill>
            <a:srgbClr val="18181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0574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71717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CORE NATS MAPPINGS, SCOPED BY CLUSTER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42316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Clients use one virtual stream name, the same in every cluster; mappings send them to the real streams of the cluster they are connected to.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west, a publish to foo.&gt; is mapped to foo.west.&gt;, which is what west's write stream listens on.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$JS API subjects for stream foo are mapped to the local read stream.</a:t>
            </a:r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8181B"/>
                </a:solidFill>
                <a:latin typeface="Inter" pitchFamily="34" charset="0"/>
                <a:ea typeface="Inter" pitchFamily="34" charset="-122"/>
              </a:rPr>
              <a:t>Caveat: Consumer create can contain a stream name field in it.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057400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10B98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OTHERWISE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423160"/>
            <a:ext cx="46451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application has to know the name of the cluster it is connected to, and use it as a prefix on subject and stream names.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04785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3 CLOUDS · SOURCING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you gain, what you give up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94960" cy="3566160"/>
          </a:xfrm>
          <a:prstGeom prst="roundRect">
            <a:avLst>
              <a:gd name="adj" fmla="val 3077"/>
            </a:avLst>
          </a:prstGeom>
          <a:solidFill>
            <a:srgbClr val="F4F4F5"/>
          </a:solidFill>
          <a:ln/>
        </p:spPr>
      </p:sp>
      <p:sp>
        <p:nvSpPr>
          <p:cNvPr id="5" name="Shape 3"/>
          <p:cNvSpPr/>
          <p:nvPr/>
        </p:nvSpPr>
        <p:spPr>
          <a:xfrm>
            <a:off x="6263640" y="1783080"/>
            <a:ext cx="5285232" cy="3566160"/>
          </a:xfrm>
          <a:prstGeom prst="roundRect">
            <a:avLst>
              <a:gd name="adj" fmla="val 3077"/>
            </a:avLst>
          </a:prstGeom>
          <a:solidFill>
            <a:srgbClr val="18181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0574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71717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ADVANTAGES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42316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operations always have local-cluster latency.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Writes are acked by the local write stream: stored in at least one place when the PubAck arrives.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Sourcing is guaranteed store-and-forward.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Sourcing latency is low as long as both streams are working.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side keeps writing through outages and partitions, and converges afterwards.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2057400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10B98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DISADVANTAGES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423160"/>
            <a:ext cx="46451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Eventual consistency: no global order. A problem for KV if the same key is written from more than one place at a time.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Sequence numbers are not global: no real compare-and-set.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Consumers are local to the read stream: no global named durable consumers.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Messages cannot be deleted explicitly.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532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047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durable sourcing (2.14+) any retention policy works; see the sourcing-replication folder.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10B98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HANDS-ON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Demo: stretch cluster and sourcing replication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799"/>
            <a:ext cx="5120640" cy="3896751"/>
          </a:xfrm>
          <a:prstGeom prst="roundRect">
            <a:avLst>
              <a:gd name="adj" fmla="val 3077"/>
            </a:avLst>
          </a:prstGeom>
          <a:solidFill>
            <a:srgbClr val="18181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2148840"/>
            <a:ext cx="4480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regions with a write and a read stream each; every read stream sources all three. A stretch cluster, one node per region.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Publish anywhere: the PubAck names the local write stream; all read streams converge.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Kill east: west and central carry on; ORDERS, placed in east, is gone with it.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 ORDERS to the stretch cluster live; kill east again: it keeps working.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Partition east: both sides keep writing; heal: converged in seconds.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2148840"/>
            <a:ext cx="5120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1A1A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cd sourcing-replication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1A1A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./demo-stretch-and-sourcing.sh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1A1A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runs: start-supercluster.sh, define-streams.sh,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1A1A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kill-east.sh, partition-east.sh, heal-partition.sh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1A1A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nats stream edit ORDERS --cluster stretch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1A1A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RUNBOOK.md has the expected output of every step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8016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0" dirty="0">
                <a:solidFill>
                  <a:srgbClr val="27272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02</a:t>
            </a:r>
            <a:endParaRPr lang="en-US" sz="1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00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sites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640080" y="4160520"/>
            <a:ext cx="2194560" cy="27432"/>
          </a:xfrm>
          <a:prstGeom prst="rect">
            <a:avLst/>
          </a:prstGeom>
          <a:solidFill>
            <a:srgbClr val="10B981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04785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 CLOUDS · ARBITRATOR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arbitrator: a single-node third cluster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5029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West 3 nodes, east 3 nodes, arbitrator 1 node: a meta group of 7 with quorum 4. Losing either cloud leaves 4 peers.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arbitrator can be elected meta leader, but holds no streams or consumers and no client connects to it.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replicated assets get assigned to it, and no R1 assets happen naturally since no client connects there (set max_ha_assets: 1 to be sure about R&gt;1).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only saves the meta layer: when a whole cluster goes down, that cluster's streams still become unavailable.</a:t>
            </a:r>
            <a:endParaRPr lang="en-US" sz="1500" dirty="0"/>
          </a:p>
        </p:txBody>
      </p:sp>
      <p:pic>
        <p:nvPicPr>
          <p:cNvPr id="5" name="Image 0" descr="/Users/jnmoyne/Documents/Synadia/code/workshop-DR/diagrams/06-arbitra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152" y="1828800"/>
            <a:ext cx="5760720" cy="324040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04785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 CLOUDS · ARBITRATOR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cloud goes down vs a cloud is cut off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94960" cy="3657600"/>
          </a:xfrm>
          <a:prstGeom prst="roundRect">
            <a:avLst>
              <a:gd name="adj" fmla="val 3000"/>
            </a:avLst>
          </a:prstGeom>
          <a:solidFill>
            <a:srgbClr val="F4F4F5"/>
          </a:solidFill>
          <a:ln/>
        </p:spPr>
      </p:sp>
      <p:sp>
        <p:nvSpPr>
          <p:cNvPr id="5" name="Shape 3"/>
          <p:cNvSpPr/>
          <p:nvPr/>
        </p:nvSpPr>
        <p:spPr>
          <a:xfrm>
            <a:off x="6263640" y="1783080"/>
            <a:ext cx="5285232" cy="3657600"/>
          </a:xfrm>
          <a:prstGeom prst="roundRect">
            <a:avLst>
              <a:gd name="adj" fmla="val 3000"/>
            </a:avLst>
          </a:prstGeom>
          <a:solidFill>
            <a:srgbClr val="18181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0574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71717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EAST GOES DOWN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42316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West + arbitrator: 4 of 7, a meta leader in seconds.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West keeps data plane and control plane: publish, consume, KV, create streams.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East's streams: no replicas, unavailable. Publish gets no ack, stream info times out.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mirror living in east is gone too.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Recovery: start east. Peers rejoin, streams elect leaders, consumers resume, mirrors catch up. Nothing to do by hand.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2057400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10B98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EAST IS PARTITIONED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423160"/>
            <a:ext cx="464515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meta picture: leader on the majority side; east has none.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East still serves its own clients from its own R3 streams: publish, consume, direct get.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East's control plane fails with 10008: create consumer, create stream.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mirror's 'lag' stays 0 during the cut; it cannot know. Watch 'active' or compare counts.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Heal: gateways reconnect in seconds, a brief meta re-election, mirrors catch up.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04785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 CLOUDS · ARBITRATOR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East goes down</a:t>
            </a:r>
            <a:endParaRPr lang="en-US" sz="3400" dirty="0"/>
          </a:p>
        </p:txBody>
      </p:sp>
      <p:pic>
        <p:nvPicPr>
          <p:cNvPr id="4" name="Image 0" descr="/Users/jnmoyne/Documents/Synadia/code/workshop-DR/diagrams/07-arbitrator-east-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0476" y="1417320"/>
            <a:ext cx="8128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04785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 CLOUDS · ARBITRATOR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East is cut off</a:t>
            </a:r>
            <a:endParaRPr lang="en-US" sz="3400" dirty="0"/>
          </a:p>
        </p:txBody>
      </p:sp>
      <p:pic>
        <p:nvPicPr>
          <p:cNvPr id="4" name="Image 0" descr="/Users/jnmoyne/Documents/Synadia/code/workshop-DR/diagrams/08-arbitrator-part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0476" y="1417320"/>
            <a:ext cx="8128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10B98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HANDS-ON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Demo: losing a cloud, twice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20640" cy="3566160"/>
          </a:xfrm>
          <a:prstGeom prst="roundRect">
            <a:avLst>
              <a:gd name="adj" fmla="val 3077"/>
            </a:avLst>
          </a:prstGeom>
          <a:solidFill>
            <a:srgbClr val="18181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2148840"/>
            <a:ext cx="4480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demo-region-down.sh: kill east; west keeps working; east's streams unavailable; the mirror in east is down; start east and watch everything heal.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demo-partition.sh: cut the gateways; east's data plane lives on, its control plane does not; heal and converge.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 'server report jetstream': Current false and Lag growing before Online changes.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2148840"/>
            <a:ext cx="5120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1A1A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cd arbitrator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1A1A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./demo-region-down.sh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1A1A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./demo-partition.sh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1A1A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kill-east.sh · kill-west.sh · kill-arbitrator.sh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1A1A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partition-east.sh · heal-partition.sh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1A1A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RUNBOOK.md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04785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 CLOUDS · LEAF NODE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Rather than a super-cluster: one cluster as a leaf node of the other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5029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not connect the system account over the leaf link.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cluster has its own independent meta group: losing one never touches the other's control plane.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lose the ability to move streams between the clusters.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Separate JetStream domains; the other domain is reachable as $JS.&lt;domain&gt;.API for mirrors and sources.</a:t>
            </a:r>
            <a:endParaRPr lang="en-US" sz="1500" dirty="0"/>
          </a:p>
        </p:txBody>
      </p:sp>
      <p:pic>
        <p:nvPicPr>
          <p:cNvPr id="5" name="Image 0" descr="/Users/jnmoyne/Documents/Synadia/code/workshop-DR/diagrams/09-mirror-primary-ba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152" y="1828800"/>
            <a:ext cx="5760720" cy="324040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04785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 CLOUDS · PRIMARY / BACKUP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Primary/backup clusters with mirrors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521458" cy="2377440"/>
          </a:xfrm>
          <a:prstGeom prst="roundRect">
            <a:avLst>
              <a:gd name="adj" fmla="val 4615"/>
            </a:avLst>
          </a:prstGeom>
          <a:solidFill>
            <a:srgbClr val="F4F4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377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4785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26080"/>
            <a:ext cx="1972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Mirror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383280"/>
            <a:ext cx="19728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ORDERS lives in east; west holds a mirror of it, with mirror_direct for local reads. Writes from anywhere go to east.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143250" y="306324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47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35858" y="2103120"/>
            <a:ext cx="2521458" cy="2377440"/>
          </a:xfrm>
          <a:prstGeom prst="roundRect">
            <a:avLst>
              <a:gd name="adj" fmla="val 4615"/>
            </a:avLst>
          </a:prstGeom>
          <a:solidFill>
            <a:srgbClr val="F4F4F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710178" y="2377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4785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710178" y="2926080"/>
            <a:ext cx="1972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Failover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710178" y="3383280"/>
            <a:ext cx="19728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East is lost. Promote the mirror in west: it becomes a regular stream and takes writes. Sequence numbers continue.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939028" y="306324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47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31636" y="2103120"/>
            <a:ext cx="2521458" cy="2377440"/>
          </a:xfrm>
          <a:prstGeom prst="roundRect">
            <a:avLst>
              <a:gd name="adj" fmla="val 4615"/>
            </a:avLst>
          </a:prstGeom>
          <a:solidFill>
            <a:srgbClr val="F4F4F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05956" y="2377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4785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505956" y="2926080"/>
            <a:ext cx="1972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East is back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505956" y="3383280"/>
            <a:ext cx="19728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Re-create ORDERS in east as a mirror of west's; let it catch up with everything written meanwhile.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734806" y="306324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47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027414" y="2103120"/>
            <a:ext cx="2521458" cy="2377440"/>
          </a:xfrm>
          <a:prstGeom prst="roundRect">
            <a:avLst>
              <a:gd name="adj" fmla="val 4615"/>
            </a:avLst>
          </a:prstGeom>
          <a:solidFill>
            <a:srgbClr val="F4F4F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301734" y="2377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4785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9301734" y="2926080"/>
            <a:ext cx="1972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Cutover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301734" y="3383280"/>
            <a:ext cx="19728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Pause writers. Promote east, delete west's stream, re-create it as a mirror of east. Back to the start.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800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047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Once promoted, a stream cannot become a mirror again unless re-created. Delete a resurrected old stream before failback: it would take writes too.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04785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 CLOUDS · PRIMARY / BACKUP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Failover: promote the mirror</a:t>
            </a:r>
            <a:endParaRPr lang="en-US" sz="3400" dirty="0"/>
          </a:p>
        </p:txBody>
      </p:sp>
      <p:pic>
        <p:nvPicPr>
          <p:cNvPr id="4" name="Image 0" descr="/Users/jnmoyne/Documents/Synadia/code/workshop-DR/diagrams/10-mirror-fail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0476" y="1417320"/>
            <a:ext cx="8128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04785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 CLOUDS · PRIMARY / BACKUP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Failback in two moves</a:t>
            </a:r>
            <a:endParaRPr lang="en-US" sz="3400" dirty="0"/>
          </a:p>
        </p:txBody>
      </p:sp>
      <p:pic>
        <p:nvPicPr>
          <p:cNvPr id="4" name="Image 0" descr="/Users/jnmoyne/Documents/Synadia/code/workshop-DR/diagrams/11-mirror-failb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0476" y="1417320"/>
            <a:ext cx="8128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10B98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HANDS-ON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Demo: failover and failback with a durable mirror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20640" cy="3566160"/>
          </a:xfrm>
          <a:prstGeom prst="roundRect">
            <a:avLst>
              <a:gd name="adj" fmla="val 3077"/>
            </a:avLst>
          </a:prstGeom>
          <a:solidFill>
            <a:srgbClr val="18181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2148840"/>
            <a:ext cx="4480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Durable mirror: a flow-control consumer on the origin first, then the mirror that reads through it.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Writes from west are acked by east over the leaf link; the mirror keeps the origin's sequence numbers.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Delete ORDERS in east, promote west: the next write is seq 4 in domain west.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Re-create east as a mirror of west (fresh consumer), cut over, re-mirror west.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2148840"/>
            <a:ext cx="5120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1A1A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cd mirror-dr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1A1A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./demo-mirror-dr.sh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1A1A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create-mirror.sh &lt;ctx&gt; &lt;origin-domain&gt;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1A1A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consumer add ORDERS mirror-&lt;ctx&gt; (flow control)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1A1A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promote.sh &lt;ctx&gt;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1A1A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kill-east.sh for the realistic outage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1A1A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RUNBOOK.md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04785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 CLOUDS · ACTIVE / ACTIVE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Active/active clusters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5029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must forego immediate consistency across the two clouds.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stream sourcing: the virtual stream from section 1, with two regions.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Both clouds write and read locally; each read stream sources both write streams.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down: the other keeps going, the read stream catches up when it is back. Partition: both keep going and converge after the heal.</a:t>
            </a:r>
            <a:endParaRPr lang="en-US" sz="1500" dirty="0"/>
          </a:p>
        </p:txBody>
      </p:sp>
      <p:pic>
        <p:nvPicPr>
          <p:cNvPr id="5" name="Image 0" descr="/Users/jnmoyne/Documents/Synadia/code/workshop-DR/diagrams/12-active-active-sourc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152" y="1828800"/>
            <a:ext cx="5760720" cy="324040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04785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DECISION MATRIX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 your trade-off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43584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7171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Arbitrator and backups aren't alternatives to the first four; they're what you add to them.</a:t>
            </a:r>
            <a:endParaRPr lang="en-US" sz="15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4578540"/>
              </p:ext>
            </p:extLst>
          </p:nvPr>
        </p:nvGraphicFramePr>
        <p:xfrm>
          <a:off x="640080" y="1737360"/>
          <a:ext cx="10908792" cy="3785616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247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8181B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RPO</a:t>
                      </a:r>
                      <a:endParaRPr lang="en-US" sz="9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8181B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RTO</a:t>
                      </a:r>
                      <a:endParaRPr lang="en-US" sz="9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8181B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CONSISTENCY</a:t>
                      </a:r>
                      <a:endParaRPr lang="en-US" sz="9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8181B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WRITE LATENCY</a:t>
                      </a:r>
                      <a:endParaRPr lang="en-US" sz="9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8181B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SURVIVES A SITE LOSS</a:t>
                      </a:r>
                      <a:endParaRPr lang="en-US" sz="9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8181B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COMPLEXITY</a:t>
                      </a:r>
                      <a:endParaRPr lang="en-US" sz="9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818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Stretch cluster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7171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R3, one node per site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818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818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Seconds: leader election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818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Immediate: single order, CAS, atomic batch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818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Cross-site RTT on every write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818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Everything, while 2 of 3 sites are up 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818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Low, but needs 3 sites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818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Super-cluster + mirrors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7171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primary / backup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818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Replication lag 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818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Minutes: promote mirror, repoint clients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818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Immediate on primary; mirror lags, read-only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818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Local cluster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818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Data up to the lag. Not consumers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818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Medium; failback = recreate mirror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818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Sourcing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7171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active / active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818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Replication lag, per direction 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818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~0: each site is self-sufficient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818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Eventual: no global order, no cross-site CAS, LWW on keys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818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Local cluster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818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Local reads and writes; remote data catches up; consumers are local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818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High: 2 streams per site, mappings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818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Arbitrator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7171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 sites + 1-node cluster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818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n/a: control plane only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818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Seconds: meta leader re-elected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818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Unchanged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818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Local cluster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818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Lifecycle ops, promotes, moves. Lost site's data waits for its return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818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Low; tiny third location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818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Leaf node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7171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separate JS domains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818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Cross-domain mirror lag 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818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~0 for the surviving domain, incl. lifecycle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818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Immediate in a domain, eventual across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818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Local cluster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818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Everything local; no shared quorum to lose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818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Medium: domains, cross-domain config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818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Backups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7171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nats backup, 2.15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818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Time since last backup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818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Restore time: delete, recreate stream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818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Point in time; consumers included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818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None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818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Everything up to the backup, incl. logical errors replication copies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818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Low; off-site storage, scheduling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8016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0" dirty="0">
                <a:solidFill>
                  <a:srgbClr val="27272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03</a:t>
            </a:r>
            <a:endParaRPr lang="en-US" sz="1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00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machine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640080" y="4160520"/>
            <a:ext cx="2194560" cy="274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44348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single-machine disaster is losing power, or losing a disk.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04785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 MACHINE · FILE SYNC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sync_interval: what the default protects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5029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Default: fsync every 2 minutes. Every message is written to the file immediately; only the flush to the physical disk is deferred.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the nats-server process dies, nothing is lost: the data is in the OS page cache and the OS writes it out.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the whole machine dies, messages not yet fsynced can be lost, unless sync_interval: always is set in the server config.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OS decides to flush much more often than every 2 minutes. fsync is much more expensive on macOS than on Linux.</a:t>
            </a:r>
            <a:endParaRPr lang="en-US" sz="1500" dirty="0"/>
          </a:p>
        </p:txBody>
      </p:sp>
      <p:pic>
        <p:nvPicPr>
          <p:cNvPr id="5" name="Image 0" descr="/Users/jnmoyne/Documents/Synadia/code/workshop-DR/diagrams/13-fsync-process-cr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152" y="1828800"/>
            <a:ext cx="5760720" cy="324040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04785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 MACHINE · FILE SYNC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2.15: sync always, without the old price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5029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Opportunistic batching of messages at the RAFT level, up to a maximum size: one disk sync per batch instead of one per message.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Applies to R3 streams (and to atomic batches on R1 streams).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Async publishing, or many clients publishing at the same time, benefit greatly.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single client doing synchronous publications does not benefit as much, but is still much faster than before 2.15.</a:t>
            </a:r>
            <a:endParaRPr lang="en-US" sz="1500" dirty="0"/>
          </a:p>
        </p:txBody>
      </p:sp>
      <p:pic>
        <p:nvPicPr>
          <p:cNvPr id="5" name="Image 0" descr="/Users/jnmoyne/Documents/Synadia/code/workshop-DR/diagrams/14-fsync-machine-cr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152" y="1828800"/>
            <a:ext cx="5760720" cy="324040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04785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 MACHINE · GOTCHA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node loses its disk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94960" cy="3200400"/>
          </a:xfrm>
          <a:prstGeom prst="roundRect">
            <a:avLst>
              <a:gd name="adj" fmla="val 3429"/>
            </a:avLst>
          </a:prstGeom>
          <a:solidFill>
            <a:srgbClr val="F4F4F5"/>
          </a:solidFill>
          <a:ln/>
        </p:spPr>
      </p:sp>
      <p:sp>
        <p:nvSpPr>
          <p:cNvPr id="5" name="Shape 3"/>
          <p:cNvSpPr/>
          <p:nvPr/>
        </p:nvSpPr>
        <p:spPr>
          <a:xfrm>
            <a:off x="6263640" y="1783080"/>
            <a:ext cx="5285232" cy="3200400"/>
          </a:xfrm>
          <a:prstGeom prst="roundRect">
            <a:avLst>
              <a:gd name="adj" fmla="val 3429"/>
            </a:avLst>
          </a:prstGeom>
          <a:solidFill>
            <a:srgbClr val="18181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0574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71717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SAME SERVER NAME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42316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R3 / R5 streams and consumers recover automatically from the other replicas.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R1 streams come back empty.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R1 consumers are reset, as if they had just been re-created.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2057400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10B98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NEW SERVER NAME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423160"/>
            <a:ext cx="46451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old name is still a member of the meta group: it counts against quorum forever.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must clean it up from the meta layer.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3931920"/>
            <a:ext cx="4645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0B98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nats server cluster peer-remove &lt;old-name&gt;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4343400"/>
            <a:ext cx="4645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peer-remove also removes the R1 assets that were assigned to that server.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8016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0" dirty="0">
                <a:solidFill>
                  <a:srgbClr val="27272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04</a:t>
            </a:r>
            <a:endParaRPr lang="en-US" sz="1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00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Backups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640080" y="4160520"/>
            <a:ext cx="2194560" cy="27432"/>
          </a:xfrm>
          <a:prstGeom prst="rect">
            <a:avLst/>
          </a:prstGeom>
          <a:solidFill>
            <a:srgbClr val="10B981"/>
          </a:solidFill>
          <a:ln/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04785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BACKUPS · 2.15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</a:t>
            </a:r>
            <a:r>
              <a:rPr lang="en-US" sz="3400" b="1" dirty="0" err="1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nats</a:t>
            </a:r>
            <a:r>
              <a:rPr lang="en-US" sz="3400" b="1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backup: a giant archive where each message is a file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53384" cy="3474720"/>
          </a:xfrm>
          <a:prstGeom prst="roundRect">
            <a:avLst>
              <a:gd name="adj" fmla="val 3177"/>
            </a:avLst>
          </a:prstGeom>
          <a:solidFill>
            <a:srgbClr val="F4F4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2240280"/>
            <a:ext cx="2813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tool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880360"/>
            <a:ext cx="281330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130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</a:t>
            </a:r>
            <a:r>
              <a:rPr lang="en-US" sz="1400" dirty="0" err="1">
                <a:solidFill>
                  <a:srgbClr val="04785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nats</a:t>
            </a:r>
            <a:r>
              <a:rPr lang="en-US" sz="1400" dirty="0">
                <a:solidFill>
                  <a:srgbClr val="04785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backup stream</a:t>
            </a:r>
            <a:r>
              <a:rPr lang="en-US" sz="130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not </a:t>
            </a:r>
            <a:r>
              <a:rPr lang="en-US" sz="1400" dirty="0" err="1">
                <a:solidFill>
                  <a:srgbClr val="04785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nats</a:t>
            </a:r>
            <a:r>
              <a:rPr lang="en-US" sz="1400" dirty="0">
                <a:solidFill>
                  <a:srgbClr val="04785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stream backup</a:t>
            </a:r>
            <a:r>
              <a:rPr lang="en-US" sz="130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One-way backwards compatible: older backups restore, the new commands (info, validate, edit, lookup) need backups taken from 2.15.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67784" y="1920240"/>
            <a:ext cx="3453384" cy="3474720"/>
          </a:xfrm>
          <a:prstGeom prst="roundRect">
            <a:avLst>
              <a:gd name="adj" fmla="val 3177"/>
            </a:avLst>
          </a:prstGeom>
          <a:solidFill>
            <a:srgbClr val="F4F4F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87824" y="2240280"/>
            <a:ext cx="2813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it fixes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687824" y="2880360"/>
            <a:ext cx="281330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Backs up the consumers as well as the stream, even R1 consumers on an R3 stream living on a node other than the stream leader.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back up memory streams.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95488" y="1920240"/>
            <a:ext cx="3453384" cy="3474720"/>
          </a:xfrm>
          <a:prstGeom prst="roundRect">
            <a:avLst>
              <a:gd name="adj" fmla="val 3177"/>
            </a:avLst>
          </a:prstGeom>
          <a:solidFill>
            <a:srgbClr val="F4F4F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15528" y="2240280"/>
            <a:ext cx="2813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Restore and inspect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415528" y="2880360"/>
            <a:ext cx="281330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Restoring means deleting the stream and re-creating it from the backup.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 backup information, like nats stream info. Validate a backup is complete and restorable.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10B98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HANDS-ON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Demo: back up, break, restore, edit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20640" cy="3566160"/>
          </a:xfrm>
          <a:prstGeom prst="roundRect">
            <a:avLst>
              <a:gd name="adj" fmla="val 3077"/>
            </a:avLst>
          </a:prstGeom>
          <a:solidFill>
            <a:srgbClr val="18181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2148840"/>
            <a:ext cx="4480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 up ORDERS with its consumer; info, subjects, validate.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Delete the stream, restore it: 12 messages and consumer C back at ack floor 4.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Edit: by subject, header and payload, last-per-subject with renumber, by time; restore an edited copy next to the original.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Obfuscate and look up; compact a KV bucket; back up a memory stream and a whole account.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2148840"/>
            <a:ext cx="5120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1A1A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cd backup-restore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1A1A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./demo-backup-restore.sh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1A1A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nats backup stream | account | restore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1A1A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nats backup info | validate | edit | lookup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1A1A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RUNBOOK.md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04785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BACKUPS · EDIT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 a backup into a new one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43584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7171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nats backup edit &lt;source&gt; &lt;target&gt; …  The source is never touched; --dry-run shows the effect.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908792" cy="3017520"/>
          </a:xfrm>
          <a:prstGeom prst="roundRect">
            <a:avLst>
              <a:gd name="adj" fmla="val 3636"/>
            </a:avLst>
          </a:prstGeom>
          <a:solidFill>
            <a:srgbClr val="F4F4F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21488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8181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Stream config: everything, even the name (edit backup.json)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62432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8181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before / after: by time or by sequence number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309981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8181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keep / exclude messages on matching subjects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3575304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8181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keep / exclude messages with a header, or a header value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405079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8181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keep / exclude messages whose payload matches a RegEx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1488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8181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keep the last N messages per subject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262432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8181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KV compact: latest revision per key, deleted keys dropped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309981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8181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renumber sequence numbers from 1 (drops consumers)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3575304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8181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obfuscate: names, subjects, headers hashed with a key file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405079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 err="1">
                <a:solidFill>
                  <a:srgbClr val="18181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nats</a:t>
            </a:r>
            <a:r>
              <a:rPr lang="en-US" sz="1300" dirty="0">
                <a:solidFill>
                  <a:srgbClr val="18181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backup lookup KEYFILE VALUE shows the original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074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047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Planned: incremental backups, and storing backups in S3-type buckets.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8016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0" dirty="0">
                <a:solidFill>
                  <a:srgbClr val="27272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05</a:t>
            </a:r>
            <a:endParaRPr lang="en-US" sz="1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00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Planned moves vs failover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640080" y="4160520"/>
            <a:ext cx="2194560" cy="27432"/>
          </a:xfrm>
          <a:prstGeom prst="rect">
            <a:avLst/>
          </a:prstGeom>
          <a:solidFill>
            <a:srgbClr val="10B981"/>
          </a:solidFill>
          <a:ln/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04785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PLANNED MOVES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commands to know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53384" cy="3474720"/>
          </a:xfrm>
          <a:prstGeom prst="roundRect">
            <a:avLst>
              <a:gd name="adj" fmla="val 3177"/>
            </a:avLst>
          </a:prstGeom>
          <a:solidFill>
            <a:srgbClr val="F4F4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2240280"/>
            <a:ext cx="2813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nats stream cluster move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880360"/>
            <a:ext cx="281330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 a stream to another cluster, or re-place it with tags, while it keeps serving.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2.15: highly recommended; the desired-state migration got faster and more robust.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4709160"/>
            <a:ext cx="2813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4785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nats stream cluster move &lt;stream&gt; --cluster east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67784" y="1920240"/>
            <a:ext cx="3453384" cy="3474720"/>
          </a:xfrm>
          <a:prstGeom prst="roundRect">
            <a:avLst>
              <a:gd name="adj" fmla="val 3177"/>
            </a:avLst>
          </a:prstGeom>
          <a:solidFill>
            <a:srgbClr val="F4F4F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87824" y="2240280"/>
            <a:ext cx="2813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nats server cluster peer-remove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687824" y="2880360"/>
            <a:ext cx="281330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 a server from the JetStream meta group.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also removes the R1 assets that were assigned to it. Use it after a server is gone for good, or before retiring one.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87824" y="4709160"/>
            <a:ext cx="2813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4785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nats server cluster peer-remove &lt;name&gt;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95488" y="1920240"/>
            <a:ext cx="3453384" cy="3474720"/>
          </a:xfrm>
          <a:prstGeom prst="roundRect">
            <a:avLst>
              <a:gd name="adj" fmla="val 3177"/>
            </a:avLst>
          </a:prstGeom>
          <a:solidFill>
            <a:srgbClr val="F4F4F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15528" y="2240280"/>
            <a:ext cx="2813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nats server cluster evacuate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415528" y="2880360"/>
            <a:ext cx="281330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2.15: move every JetStream asset off a peer to other peers, so that then it can be removed safely.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415528" y="4709160"/>
            <a:ext cx="2813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4785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nats server cluster evacuate &lt;name&gt;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04785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THINGS TO KNOW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53384" cy="3474720"/>
          </a:xfrm>
          <a:prstGeom prst="roundRect">
            <a:avLst>
              <a:gd name="adj" fmla="val 3177"/>
            </a:avLst>
          </a:prstGeom>
          <a:solidFill>
            <a:srgbClr val="F4F4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2240280"/>
            <a:ext cx="2813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Durable mirroring and sourcing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880360"/>
            <a:ext cx="281330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Prefer the durable form of mirroring and sourcing, available since 2.14.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nats stream info shows you the mirror or source lag. In 2.15 the highest sourced sequence is exposed too: that number is your RPO.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67784" y="1920240"/>
            <a:ext cx="3453384" cy="3474720"/>
          </a:xfrm>
          <a:prstGeom prst="roundRect">
            <a:avLst>
              <a:gd name="adj" fmla="val 3177"/>
            </a:avLst>
          </a:prstGeom>
          <a:solidFill>
            <a:srgbClr val="F4F4F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87824" y="2240280"/>
            <a:ext cx="2813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Client-side DR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687824" y="2880360"/>
            <a:ext cx="281330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Deduplication with Nats-Msg-Id: a publish retried across a failover is stored once. It works with sourcing too.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Re-create consumers as part of moving an application to the DR site: consumers are local.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95488" y="1920240"/>
            <a:ext cx="3453384" cy="3474720"/>
          </a:xfrm>
          <a:prstGeom prst="roundRect">
            <a:avLst>
              <a:gd name="adj" fmla="val 3177"/>
            </a:avLst>
          </a:prstGeom>
          <a:solidFill>
            <a:srgbClr val="F4F4F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5528" y="2240280"/>
            <a:ext cx="2813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Replication is not backup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415528" y="2880360"/>
            <a:ext cx="281330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Mirrors and sources copy a bad publisher's data faithfully, and an accidental purge on the origin leaves the mirror frozen.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Pair them with deny_delete / deny_purge where it matters, and with backups.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945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640080" y="3429000"/>
            <a:ext cx="2926080" cy="27432"/>
          </a:xfrm>
          <a:prstGeom prst="rect">
            <a:avLst/>
          </a:prstGeom>
          <a:solidFill>
            <a:srgbClr val="10B981"/>
          </a:solidFill>
          <a:ln/>
        </p:spPr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04785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THE DEAL · HANDS-ON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Clone the repo, run every demo on your laptop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5029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demo folders: arbitrator, sourcing-replication, mirror-dr, backup-restore. Each has its scripts, a kill switch per region and a runbook with the expected output of every step.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Needs nats-server, the nats CLI and Go (for the proxy that cuts gateway links). Everything listens on 127.0.0.1.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diagrams of this deck are in there too. Clone it now and run along, or replay it after the session.</a:t>
            </a:r>
            <a:endParaRPr lang="en-US" sz="1500" dirty="0"/>
          </a:p>
        </p:txBody>
      </p:sp>
      <p:pic>
        <p:nvPicPr>
          <p:cNvPr id="5" name="Image 0" descr="QR code: github.com/synadia-labs/workshop-disaster-recovery-20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8512" y="1828800"/>
            <a:ext cx="3600000" cy="36000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640080" y="55778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kern="0" spc="0" dirty="0">
                <a:solidFill>
                  <a:srgbClr val="04785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https://github.com/synadia-labs/workshop-disaster-recovery-2026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2697</TotalTime>
  <Words>4263</Words>
  <Application>Microsoft Macintosh PowerPoint</Application>
  <PresentationFormat>Widescreen</PresentationFormat>
  <Paragraphs>450</Paragraphs>
  <Slides>42</Slides>
  <Notes>42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6" baseType="lpstr">
      <vt:lpstr>Geist Mono</vt:lpstr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Multi-cloud failure scenarios: disaster recovery with NATS JetStream</dc:title>
  <dc:subject>PptxGenJS Presentation</dc:subject>
  <dc:creator>Synadia</dc:creator>
  <cp:lastModifiedBy>Jean-Noel Moyne</cp:lastModifiedBy>
  <cp:revision>6</cp:revision>
  <dcterms:created xsi:type="dcterms:W3CDTF">2026-10-17T13:53:24Z</dcterms:created>
  <dcterms:modified xsi:type="dcterms:W3CDTF">2026-10-19T10:51:33Z</dcterms:modified>
</cp:coreProperties>
</file>